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6" r:id="rId5"/>
    <p:sldId id="257" r:id="rId6"/>
    <p:sldId id="260" r:id="rId7"/>
    <p:sldId id="286" r:id="rId8"/>
    <p:sldId id="288" r:id="rId9"/>
    <p:sldId id="287" r:id="rId10"/>
    <p:sldId id="289" r:id="rId11"/>
    <p:sldId id="290" r:id="rId12"/>
    <p:sldId id="291" r:id="rId13"/>
    <p:sldId id="292" r:id="rId14"/>
    <p:sldId id="293" r:id="rId15"/>
    <p:sldId id="258" r:id="rId16"/>
    <p:sldId id="294" r:id="rId17"/>
    <p:sldId id="295" r:id="rId18"/>
    <p:sldId id="297" r:id="rId19"/>
    <p:sldId id="298" r:id="rId20"/>
    <p:sldId id="261" r:id="rId21"/>
    <p:sldId id="299" r:id="rId22"/>
    <p:sldId id="300" r:id="rId23"/>
    <p:sldId id="301" r:id="rId24"/>
    <p:sldId id="303" r:id="rId25"/>
    <p:sldId id="302" r:id="rId26"/>
    <p:sldId id="267" r:id="rId27"/>
    <p:sldId id="304" r:id="rId28"/>
    <p:sldId id="305" r:id="rId29"/>
    <p:sldId id="306" r:id="rId30"/>
    <p:sldId id="313" r:id="rId31"/>
    <p:sldId id="318" r:id="rId32"/>
    <p:sldId id="319" r:id="rId33"/>
    <p:sldId id="320" r:id="rId34"/>
    <p:sldId id="307" r:id="rId35"/>
    <p:sldId id="308" r:id="rId36"/>
    <p:sldId id="324" r:id="rId37"/>
    <p:sldId id="314" r:id="rId38"/>
    <p:sldId id="323" r:id="rId39"/>
    <p:sldId id="326" r:id="rId40"/>
    <p:sldId id="327" r:id="rId41"/>
    <p:sldId id="330" r:id="rId42"/>
    <p:sldId id="315" r:id="rId43"/>
    <p:sldId id="329" r:id="rId44"/>
    <p:sldId id="322" r:id="rId45"/>
    <p:sldId id="331" r:id="rId46"/>
    <p:sldId id="332" r:id="rId47"/>
    <p:sldId id="333" r:id="rId48"/>
    <p:sldId id="316" r:id="rId49"/>
    <p:sldId id="309" r:id="rId50"/>
    <p:sldId id="311" r:id="rId51"/>
    <p:sldId id="312" r:id="rId52"/>
    <p:sldId id="321" r:id="rId53"/>
    <p:sldId id="325" r:id="rId54"/>
    <p:sldId id="317" r:id="rId55"/>
    <p:sldId id="26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11/21/2025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Contract Monthly Claim System (CMCS)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7"/>
            <a:ext cx="7077456" cy="1370345"/>
          </a:xfrm>
        </p:spPr>
        <p:txBody>
          <a:bodyPr>
            <a:normAutofit/>
          </a:bodyPr>
          <a:lstStyle/>
          <a:p>
            <a:r>
              <a:rPr lang="en-US" sz="2400" dirty="0"/>
              <a:t>Subtitle</a:t>
            </a:r>
            <a:r>
              <a:rPr lang="en-GB" sz="2400" dirty="0"/>
              <a:t>Portfolio of Evidence — Programming 2B (PROG6212)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ST10442454 – Ndivhuwo Wandile  Ranwedzi </a:t>
            </a:r>
            <a:br>
              <a:rPr lang="en-GB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POE PRESENTATION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US" dirty="0"/>
              <a:t>Homepage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HOMEPAGE INFORMATION AND SCREENSHOTS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F881D2-7717-4A6F-8916-41F20B62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ACA19-4A7D-4DFA-B2FC-6DE7F9BD76F0}"/>
              </a:ext>
            </a:extLst>
          </p:cNvPr>
          <p:cNvSpPr/>
          <p:nvPr/>
        </p:nvSpPr>
        <p:spPr>
          <a:xfrm>
            <a:off x="430306" y="1243786"/>
            <a:ext cx="1025562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Welcome to CMCS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 platform built to simplify and streamline monthly claim submissions.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Supports both lecturers and administrators.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Provides a user‑friendly and efficient experience for all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8319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F9CEA-E5E2-4F96-B12E-C23BBEF9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1CE57E-4C46-415E-89CE-60889FB2CE59}"/>
              </a:ext>
            </a:extLst>
          </p:cNvPr>
          <p:cNvSpPr/>
          <p:nvPr/>
        </p:nvSpPr>
        <p:spPr>
          <a:xfrm>
            <a:off x="1129553" y="681318"/>
            <a:ext cx="986117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b="1" dirty="0">
                <a:solidFill>
                  <a:schemeClr val="bg1"/>
                </a:solidFill>
              </a:rPr>
              <a:t>About the System</a:t>
            </a:r>
          </a:p>
          <a:p>
            <a:endParaRPr lang="en-ZA" sz="28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CMCS is a practical web‑based application reflecting real academic workflows.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Automates: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Claim submissions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Document uploads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Multi‑level approvals (Lecturers → Coordinators → Managers → HR)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Built with modern software practices ensuring accuracy, accountability,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100724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58B1C0-A7CD-4762-8075-4151FD36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6C1B1-B4F7-40CB-A8F7-825DC49C575F}"/>
              </a:ext>
            </a:extLst>
          </p:cNvPr>
          <p:cNvSpPr/>
          <p:nvPr/>
        </p:nvSpPr>
        <p:spPr>
          <a:xfrm>
            <a:off x="1156447" y="1237129"/>
            <a:ext cx="798755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What We Do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Lecturers: Submit monthly claims easily.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Programme Coordinators: Verify and approve claims.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Academic Managers: Oversee final approvals and compliance.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HR: Track claim status, finalize payments, and manage lecturer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Transparent tracking from submission to settlement.</a:t>
            </a:r>
          </a:p>
        </p:txBody>
      </p:sp>
    </p:spTree>
    <p:extLst>
      <p:ext uri="{BB962C8B-B14F-4D97-AF65-F5344CB8AC3E}">
        <p14:creationId xmlns:p14="http://schemas.microsoft.com/office/powerpoint/2010/main" val="324318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5D094C-39D6-4ABC-9D70-E1589407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84212F-6741-44C4-BCA3-C35CC6865573}"/>
              </a:ext>
            </a:extLst>
          </p:cNvPr>
          <p:cNvSpPr/>
          <p:nvPr/>
        </p:nvSpPr>
        <p:spPr>
          <a:xfrm>
            <a:off x="1075765" y="1362635"/>
            <a:ext cx="80682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Key Features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Secure document upload.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Real‑time claim status tracking.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Multi‑role access with tailored dashboards.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Automated CSV and PDF report generation.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Consistent and reliable information across all user roles.</a:t>
            </a:r>
          </a:p>
        </p:txBody>
      </p:sp>
    </p:spTree>
    <p:extLst>
      <p:ext uri="{BB962C8B-B14F-4D97-AF65-F5344CB8AC3E}">
        <p14:creationId xmlns:p14="http://schemas.microsoft.com/office/powerpoint/2010/main" val="208448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79C5BB-90B4-46C6-8758-B41FFDD2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781ACC-219C-4849-87B1-B85D70F35A9B}"/>
              </a:ext>
            </a:extLst>
          </p:cNvPr>
          <p:cNvSpPr/>
          <p:nvPr/>
        </p:nvSpPr>
        <p:spPr>
          <a:xfrm>
            <a:off x="1353670" y="1764757"/>
            <a:ext cx="81220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Value of CMCS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Efficiency: Reduces manual paperwork and repetitive tasks.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Transparency: Lecturers can track claims at every stage.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Accuracy: Automated calculations minimize errors.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Accountability: Clear approval workflow ensures compliance.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Scalability: Built on .NET Core MVC for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415624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4AA821-AB8D-441F-A071-73E198A7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B78F6-E067-4307-A3D7-3B902FC9492C}"/>
              </a:ext>
            </a:extLst>
          </p:cNvPr>
          <p:cNvSpPr/>
          <p:nvPr/>
        </p:nvSpPr>
        <p:spPr>
          <a:xfrm>
            <a:off x="1981201" y="1111624"/>
            <a:ext cx="82654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Contact Us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Email: support@cmcs.edu.za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Phone: +27 11 000 0000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Office Hours: Monday to Friday, 08:00 – 16:30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Dedicated to making the claim process smooth and stress‑free.</a:t>
            </a:r>
          </a:p>
        </p:txBody>
      </p:sp>
    </p:spTree>
    <p:extLst>
      <p:ext uri="{BB962C8B-B14F-4D97-AF65-F5344CB8AC3E}">
        <p14:creationId xmlns:p14="http://schemas.microsoft.com/office/powerpoint/2010/main" val="346252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9F5182-07DA-416A-A93A-522EE536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AAC10-0BD4-421A-82C1-15F0641BAF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4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Sign Up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REGISTRATION/SIGN UP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36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996AD9-3153-45C5-BCE6-1EECE188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 up</a:t>
            </a:r>
            <a:endParaRPr lang="en-ZA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1F787E-2B3D-464E-B533-864832C4043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4500" y="1099508"/>
            <a:ext cx="6484467" cy="514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registration 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new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Collects essential details: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Password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Role (Lecturer, Coordinator, Manager, HR)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Ensures each user is correctly identified and assigned a role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GB" sz="1800" b="1" dirty="0"/>
              <a:t>Sign Up Page (Features)</a:t>
            </a:r>
          </a:p>
          <a:p>
            <a:r>
              <a:rPr lang="en-GB" sz="1800" b="1" dirty="0"/>
              <a:t>Validation:</a:t>
            </a:r>
            <a:r>
              <a:rPr lang="en-GB" sz="1800" dirty="0"/>
              <a:t> Displays errors if fields are missing or invalid.</a:t>
            </a:r>
          </a:p>
          <a:p>
            <a:r>
              <a:rPr lang="en-GB" sz="1800" b="1" dirty="0"/>
              <a:t>Role Selection:</a:t>
            </a:r>
            <a:r>
              <a:rPr lang="en-GB" sz="1800" dirty="0"/>
              <a:t> Dropdown ensures correct access level.</a:t>
            </a:r>
          </a:p>
          <a:p>
            <a:r>
              <a:rPr lang="en-GB" sz="1800" b="1" dirty="0"/>
              <a:t>Security:</a:t>
            </a:r>
            <a:r>
              <a:rPr lang="en-GB" sz="1800" dirty="0"/>
              <a:t> Password field hidden during entry.</a:t>
            </a:r>
          </a:p>
          <a:p>
            <a:r>
              <a:rPr lang="en-GB" sz="1800" b="1" dirty="0"/>
              <a:t>User Experience:</a:t>
            </a:r>
            <a:r>
              <a:rPr lang="en-GB" sz="1800" dirty="0"/>
              <a:t> Clean, </a:t>
            </a:r>
            <a:r>
              <a:rPr lang="en-GB" sz="1800" dirty="0" err="1"/>
              <a:t>centered</a:t>
            </a:r>
            <a:r>
              <a:rPr lang="en-GB" sz="1800" dirty="0"/>
              <a:t> layout with clear labels.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F9CEA-E5E2-4F96-B12E-C23BBEF9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1CE57E-4C46-415E-89CE-60889FB2CE59}"/>
              </a:ext>
            </a:extLst>
          </p:cNvPr>
          <p:cNvSpPr/>
          <p:nvPr/>
        </p:nvSpPr>
        <p:spPr>
          <a:xfrm>
            <a:off x="1129553" y="681318"/>
            <a:ext cx="106590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Sign Up Page (Value)</a:t>
            </a:r>
          </a:p>
          <a:p>
            <a:r>
              <a:rPr lang="en-GB" dirty="0">
                <a:solidFill>
                  <a:schemeClr val="bg1"/>
                </a:solidFill>
              </a:rPr>
              <a:t>Streamlines onboarding of new users.</a:t>
            </a:r>
          </a:p>
          <a:p>
            <a:r>
              <a:rPr lang="en-GB" dirty="0">
                <a:solidFill>
                  <a:schemeClr val="bg1"/>
                </a:solidFill>
              </a:rPr>
              <a:t>Prevents incorrect role assignment.</a:t>
            </a:r>
          </a:p>
          <a:p>
            <a:r>
              <a:rPr lang="en-GB" dirty="0">
                <a:solidFill>
                  <a:schemeClr val="bg1"/>
                </a:solidFill>
              </a:rPr>
              <a:t>Ensures data integrity with validation.</a:t>
            </a:r>
          </a:p>
          <a:p>
            <a:r>
              <a:rPr lang="en-GB" dirty="0">
                <a:solidFill>
                  <a:schemeClr val="bg1"/>
                </a:solidFill>
              </a:rPr>
              <a:t>Provides a professional, user‑friendly interface.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31193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AA7A0-D5F5-4AF5-BC5F-83C63F73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3F2AA-06CC-45EF-AA18-BDFAF4A5B4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753" y="0"/>
            <a:ext cx="1212924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05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Login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LOGIN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85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996AD9-3153-45C5-BCE6-1EECE188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Login </a:t>
            </a:r>
            <a:endParaRPr lang="en-ZA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1F787E-2B3D-464E-B533-864832C4043E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444499" y="1163627"/>
            <a:ext cx="741754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GB" sz="1800" dirty="0"/>
              <a:t>Allows registered users to </a:t>
            </a:r>
            <a:r>
              <a:rPr lang="en-GB" sz="1800" b="1" dirty="0"/>
              <a:t>access the system</a:t>
            </a:r>
            <a:r>
              <a:rPr lang="en-GB" sz="1800" dirty="0"/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It requires  the username ,password, role selection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connects directly to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homecontroller</a:t>
            </a:r>
            <a:r>
              <a:rPr lang="en-US" altLang="en-US" sz="1800" dirty="0" err="1">
                <a:latin typeface="Arial" panose="020B0604020202020204" pitchFamily="34" charset="0"/>
              </a:rPr>
              <a:t>.login</a:t>
            </a:r>
            <a:r>
              <a:rPr lang="en-US" altLang="en-US" sz="1800" dirty="0">
                <a:latin typeface="Arial" panose="020B0604020202020204" pitchFamily="34" charset="0"/>
              </a:rPr>
              <a:t> for authentication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ZA" sz="1800" dirty="0"/>
              <a:t>Login Page (Features)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ZA" sz="1800" b="1" dirty="0"/>
              <a:t>Welcome Message:</a:t>
            </a:r>
            <a:r>
              <a:rPr lang="en-ZA" sz="1800" dirty="0"/>
              <a:t> Displays personalized greeting after successful sign‑up.</a:t>
            </a:r>
          </a:p>
          <a:p>
            <a:r>
              <a:rPr lang="en-ZA" sz="1800" b="1" dirty="0"/>
              <a:t>Role Dropdown:</a:t>
            </a:r>
            <a:r>
              <a:rPr lang="en-ZA" sz="1800" dirty="0"/>
              <a:t> Ensures correct dashboard access (Lecturer, Coordinator, Manager, HR).</a:t>
            </a:r>
          </a:p>
          <a:p>
            <a:r>
              <a:rPr lang="en-ZA" sz="1800" b="1" dirty="0"/>
              <a:t>Security:</a:t>
            </a:r>
            <a:r>
              <a:rPr lang="en-ZA" sz="1800" dirty="0"/>
              <a:t> Password input is masked.</a:t>
            </a:r>
          </a:p>
          <a:p>
            <a:r>
              <a:rPr lang="en-ZA" sz="1800" b="1" dirty="0"/>
              <a:t>Simple Layout:</a:t>
            </a:r>
            <a:r>
              <a:rPr lang="en-ZA" sz="1800" dirty="0"/>
              <a:t> Easy navigation for all user types.</a:t>
            </a:r>
          </a:p>
          <a:p>
            <a:pPr marL="0" indent="0">
              <a:buNone/>
            </a:pPr>
            <a:endParaRPr lang="en-ZA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03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Login Page (Value)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A" dirty="0"/>
              <a:t>Combined Value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/>
              <a:t>Provides secure access to CMCS.</a:t>
            </a:r>
          </a:p>
          <a:p>
            <a:r>
              <a:rPr lang="en-GB" dirty="0"/>
              <a:t>Ensures users only see features relevant to their role.</a:t>
            </a:r>
          </a:p>
          <a:p>
            <a:r>
              <a:rPr lang="en-GB" dirty="0"/>
              <a:t>Enhances accountability by linking actions to specific users.</a:t>
            </a:r>
          </a:p>
          <a:p>
            <a:r>
              <a:rPr lang="en-GB" dirty="0"/>
              <a:t>Creates a smooth, professional entry point into the system.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GB" dirty="0"/>
              <a:t>Together, </a:t>
            </a:r>
            <a:r>
              <a:rPr lang="en-GB" b="1" dirty="0"/>
              <a:t>Sign Up</a:t>
            </a:r>
            <a:r>
              <a:rPr lang="en-GB" dirty="0"/>
              <a:t> and </a:t>
            </a:r>
            <a:r>
              <a:rPr lang="en-GB" b="1" dirty="0"/>
              <a:t>Login</a:t>
            </a:r>
            <a:r>
              <a:rPr lang="en-GB" dirty="0"/>
              <a:t> form the </a:t>
            </a:r>
            <a:r>
              <a:rPr lang="en-GB" b="1" dirty="0"/>
              <a:t>foundation of system security</a:t>
            </a:r>
            <a:r>
              <a:rPr lang="en-GB" dirty="0"/>
              <a:t>.</a:t>
            </a:r>
          </a:p>
          <a:p>
            <a:r>
              <a:rPr lang="en-ZA" dirty="0"/>
              <a:t>They ensure: </a:t>
            </a:r>
          </a:p>
          <a:p>
            <a:r>
              <a:rPr lang="en-ZA" dirty="0"/>
              <a:t>Username, Password, Role selection</a:t>
            </a:r>
          </a:p>
          <a:p>
            <a:endParaRPr lang="en-ZA" dirty="0"/>
          </a:p>
          <a:p>
            <a:r>
              <a:rPr lang="en-GB" dirty="0"/>
              <a:t>Connect directly to the homepage .</a:t>
            </a:r>
            <a:endParaRPr lang="en-ZA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ED12025-6AE2-42A9-83BF-853D73598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D1A885C1-6778-47E0-A49F-56174C07C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directly to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HomeController.Login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for authentication.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129E5B-0293-4FF6-A215-D06998B9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6DAC1-B688-4B92-9689-689E366D0BDA}"/>
              </a:ext>
            </a:extLst>
          </p:cNvPr>
          <p:cNvSpPr/>
          <p:nvPr/>
        </p:nvSpPr>
        <p:spPr>
          <a:xfrm>
            <a:off x="1987062" y="1626578"/>
            <a:ext cx="715693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Login Page (Features)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ZA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chemeClr val="bg1"/>
                </a:solidFill>
              </a:rPr>
              <a:t>Welcome Message:</a:t>
            </a:r>
            <a:r>
              <a:rPr lang="en-ZA" dirty="0">
                <a:solidFill>
                  <a:schemeClr val="bg1"/>
                </a:solidFill>
              </a:rPr>
              <a:t> Displays personalized greeting after successful sign‑up.</a:t>
            </a:r>
          </a:p>
          <a:p>
            <a:pPr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chemeClr val="bg1"/>
                </a:solidFill>
              </a:rPr>
              <a:t>Role Dropdown:</a:t>
            </a:r>
            <a:r>
              <a:rPr lang="en-ZA" dirty="0">
                <a:solidFill>
                  <a:schemeClr val="bg1"/>
                </a:solidFill>
              </a:rPr>
              <a:t> Ensures correct dashboard access (Lecturer, Coordinator, Manager, HR).</a:t>
            </a:r>
          </a:p>
          <a:p>
            <a:pPr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chemeClr val="bg1"/>
                </a:solidFill>
              </a:rPr>
              <a:t>Security:</a:t>
            </a:r>
            <a:r>
              <a:rPr lang="en-ZA" dirty="0">
                <a:solidFill>
                  <a:schemeClr val="bg1"/>
                </a:solidFill>
              </a:rPr>
              <a:t> Password input is masked.</a:t>
            </a:r>
          </a:p>
          <a:p>
            <a:pPr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chemeClr val="bg1"/>
                </a:solidFill>
              </a:rPr>
              <a:t>Simple Layout:</a:t>
            </a:r>
            <a:r>
              <a:rPr lang="en-ZA" dirty="0">
                <a:solidFill>
                  <a:schemeClr val="bg1"/>
                </a:solidFill>
              </a:rPr>
              <a:t> Easy navigation for all user types</a:t>
            </a:r>
            <a:r>
              <a:rPr lang="en-Z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64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Login Page (Value)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Provides secure access to CMCS.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Ensures users only see features relevant to their role.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Enhances accountability by linking actions to specific users.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Creates a smooth, professional entry point into the system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6525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54F8F-6881-499B-9A33-7236F572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5BC91-BCC0-43E4-B3DD-331F0D4A00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45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F881D2-7717-4A6F-8916-41F20B62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BDC66-8631-456F-AA3E-3379AECC980C}"/>
              </a:ext>
            </a:extLst>
          </p:cNvPr>
          <p:cNvSpPr/>
          <p:nvPr/>
        </p:nvSpPr>
        <p:spPr>
          <a:xfrm>
            <a:off x="2048609" y="2259623"/>
            <a:ext cx="489634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6600" dirty="0">
                <a:solidFill>
                  <a:schemeClr val="bg1"/>
                </a:solidFill>
              </a:rPr>
              <a:t>The roles web Pages </a:t>
            </a:r>
          </a:p>
        </p:txBody>
      </p:sp>
    </p:spTree>
    <p:extLst>
      <p:ext uri="{BB962C8B-B14F-4D97-AF65-F5344CB8AC3E}">
        <p14:creationId xmlns:p14="http://schemas.microsoft.com/office/powerpoint/2010/main" val="948223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Lecturer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36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BFA366-E22E-4ACC-B5FE-C2A65924D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23293" y="1611757"/>
            <a:ext cx="1014632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Lecturer Dashboard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Purpose of This 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Welcomes the logged-in lecturer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Allows submission of monthly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access to track claim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Displays recent claim activity notice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Displays lecturer name using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@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Model.Name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Offers two main actions: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Submit Claim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Track Claim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TempData.Keep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("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LecturerName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")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to retain user context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C2F67-082D-45C7-B322-FA74C100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CAFF62-868E-478A-B91A-1118FA24D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581160"/>
            <a:ext cx="759069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Lecturer Dashboard UI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Interface Elements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Welcome message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dynamically bound to the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Submit Claim button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&lt;form asp-action="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SubmitClaim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"&gt;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Sends GET request to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HomeController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Track Claim button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Includes hidden field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lecturerFullName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Redirects to claim tracking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 Styling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Light-colored UI (beige theme)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Centered container with padding and spacing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Clean, simple navigation for lecturers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282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A7310B-D47F-40AC-914C-31B622EC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25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BCB72-5498-4149-A6D4-33ECFBA5B1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96716"/>
            <a:ext cx="11966331" cy="650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62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FD4F0-F4B0-4612-8985-EDA5AF4F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26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8CDD1-9579-469A-B9FC-35CA638777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3092" y="123092"/>
            <a:ext cx="11957539" cy="673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Coordinator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COORDINATOR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91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95117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Coordinator Dashboard Overview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Purpose of This View</a:t>
            </a:r>
          </a:p>
          <a:p>
            <a:r>
              <a:rPr lang="en-GB" sz="2400" dirty="0">
                <a:solidFill>
                  <a:schemeClr val="bg1"/>
                </a:solidFill>
              </a:rPr>
              <a:t>Provides all Programme Coordinators with: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Access to </a:t>
            </a:r>
            <a:r>
              <a:rPr lang="en-GB" sz="2400" b="1" dirty="0">
                <a:solidFill>
                  <a:schemeClr val="bg1"/>
                </a:solidFill>
              </a:rPr>
              <a:t>pending</a:t>
            </a:r>
            <a:r>
              <a:rPr lang="en-GB" sz="2400" dirty="0">
                <a:solidFill>
                  <a:schemeClr val="bg1"/>
                </a:solidFill>
              </a:rPr>
              <a:t>, </a:t>
            </a:r>
            <a:r>
              <a:rPr lang="en-GB" sz="2400" b="1" dirty="0">
                <a:solidFill>
                  <a:schemeClr val="bg1"/>
                </a:solidFill>
              </a:rPr>
              <a:t>approved</a:t>
            </a:r>
            <a:r>
              <a:rPr lang="en-GB" sz="2400" dirty="0">
                <a:solidFill>
                  <a:schemeClr val="bg1"/>
                </a:solidFill>
              </a:rPr>
              <a:t>, and </a:t>
            </a:r>
            <a:r>
              <a:rPr lang="en-GB" sz="2400" b="1" dirty="0">
                <a:solidFill>
                  <a:schemeClr val="bg1"/>
                </a:solidFill>
              </a:rPr>
              <a:t>rejected</a:t>
            </a:r>
            <a:r>
              <a:rPr lang="en-GB" sz="2400" dirty="0">
                <a:solidFill>
                  <a:schemeClr val="bg1"/>
                </a:solidFill>
              </a:rPr>
              <a:t> claims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Ability to </a:t>
            </a:r>
            <a:r>
              <a:rPr lang="en-GB" sz="2400" b="1" dirty="0">
                <a:solidFill>
                  <a:schemeClr val="bg1"/>
                </a:solidFill>
              </a:rPr>
              <a:t>approve or reject claims</a:t>
            </a:r>
            <a:endParaRPr lang="en-GB" sz="2400" dirty="0">
              <a:solidFill>
                <a:schemeClr val="bg1"/>
              </a:solidFill>
            </a:endParaRP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Overview of lecturer submissions</a:t>
            </a:r>
          </a:p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2870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59150F-9B03-427E-AAD7-55E2E74AD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669" y="820473"/>
            <a:ext cx="5130743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@model List&lt;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monthlyclaim.Models.Coordinator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&gt;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Receives a list of claim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8523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590257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Claim Categorization Logic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Dashboard Automatically Splits Claims Into: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Pending Claims</a:t>
            </a:r>
            <a:endParaRPr lang="en-GB" sz="2400" dirty="0">
              <a:solidFill>
                <a:schemeClr val="bg1"/>
              </a:solidFill>
            </a:endParaRP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Status: “Pending” or “Pending Coordinator Review”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Approved Claims</a:t>
            </a:r>
            <a:endParaRPr lang="en-GB" sz="2400" dirty="0">
              <a:solidFill>
                <a:schemeClr val="bg1"/>
              </a:solidFill>
            </a:endParaRP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Status: “Approved by Coordinator”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Rejected Claims</a:t>
            </a:r>
            <a:endParaRPr lang="en-GB" sz="2400" dirty="0">
              <a:solidFill>
                <a:schemeClr val="bg1"/>
              </a:solidFill>
            </a:endParaRP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Status: “Rejected by Coordinator”</a:t>
            </a:r>
          </a:p>
        </p:txBody>
      </p:sp>
    </p:spTree>
    <p:extLst>
      <p:ext uri="{BB962C8B-B14F-4D97-AF65-F5344CB8AC3E}">
        <p14:creationId xmlns:p14="http://schemas.microsoft.com/office/powerpoint/2010/main" val="470912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Pending Claims Table</a:t>
            </a:r>
          </a:p>
          <a:p>
            <a:r>
              <a:rPr lang="en-GB" sz="2000" b="1" dirty="0">
                <a:solidFill>
                  <a:schemeClr val="bg1"/>
                </a:solidFill>
              </a:rPr>
              <a:t>Displayed Information Includes:</a:t>
            </a:r>
          </a:p>
          <a:p>
            <a:r>
              <a:rPr lang="en-GB" sz="2000" dirty="0">
                <a:solidFill>
                  <a:schemeClr val="bg1"/>
                </a:solidFill>
              </a:rPr>
              <a:t>Claim ID</a:t>
            </a:r>
          </a:p>
          <a:p>
            <a:r>
              <a:rPr lang="en-GB" sz="2000" dirty="0">
                <a:solidFill>
                  <a:schemeClr val="bg1"/>
                </a:solidFill>
              </a:rPr>
              <a:t>Lecturer Name</a:t>
            </a:r>
          </a:p>
          <a:p>
            <a:r>
              <a:rPr lang="en-GB" sz="2000" dirty="0">
                <a:solidFill>
                  <a:schemeClr val="bg1"/>
                </a:solidFill>
              </a:rPr>
              <a:t>Course</a:t>
            </a:r>
          </a:p>
          <a:p>
            <a:r>
              <a:rPr lang="en-GB" sz="2000" dirty="0">
                <a:solidFill>
                  <a:schemeClr val="bg1"/>
                </a:solidFill>
              </a:rPr>
              <a:t>Module</a:t>
            </a:r>
          </a:p>
          <a:p>
            <a:r>
              <a:rPr lang="en-GB" sz="2000" dirty="0">
                <a:solidFill>
                  <a:schemeClr val="bg1"/>
                </a:solidFill>
              </a:rPr>
              <a:t>Hours Worked</a:t>
            </a:r>
          </a:p>
          <a:p>
            <a:r>
              <a:rPr lang="en-GB" sz="2000" dirty="0">
                <a:solidFill>
                  <a:schemeClr val="bg1"/>
                </a:solidFill>
              </a:rPr>
              <a:t>Total Claim Amount</a:t>
            </a:r>
          </a:p>
          <a:p>
            <a:r>
              <a:rPr lang="en-GB" sz="2000" dirty="0">
                <a:solidFill>
                  <a:schemeClr val="bg1"/>
                </a:solidFill>
              </a:rPr>
              <a:t>Supporting Document (View Link)</a:t>
            </a:r>
          </a:p>
          <a:p>
            <a:r>
              <a:rPr lang="en-GB" sz="2000" dirty="0">
                <a:solidFill>
                  <a:schemeClr val="bg1"/>
                </a:solidFill>
              </a:rPr>
              <a:t>Submission Date</a:t>
            </a:r>
          </a:p>
          <a:p>
            <a:r>
              <a:rPr lang="en-GB" sz="2000" dirty="0">
                <a:solidFill>
                  <a:schemeClr val="bg1"/>
                </a:solidFill>
              </a:rPr>
              <a:t>Current Status</a:t>
            </a:r>
          </a:p>
          <a:p>
            <a:r>
              <a:rPr lang="en-GB" sz="2000" b="1" dirty="0">
                <a:solidFill>
                  <a:schemeClr val="bg1"/>
                </a:solidFill>
              </a:rPr>
              <a:t>Coordinator Actions</a:t>
            </a:r>
          </a:p>
          <a:p>
            <a:r>
              <a:rPr lang="en-GB" sz="2000" b="1" dirty="0">
                <a:solidFill>
                  <a:schemeClr val="bg1"/>
                </a:solidFill>
              </a:rPr>
              <a:t>Approve</a:t>
            </a:r>
            <a:r>
              <a:rPr lang="en-GB" sz="2000" dirty="0">
                <a:solidFill>
                  <a:schemeClr val="bg1"/>
                </a:solidFill>
              </a:rPr>
              <a:t> button</a:t>
            </a:r>
          </a:p>
          <a:p>
            <a:r>
              <a:rPr lang="en-GB" sz="2000" b="1" dirty="0">
                <a:solidFill>
                  <a:schemeClr val="bg1"/>
                </a:solidFill>
              </a:rPr>
              <a:t>Reject</a:t>
            </a:r>
            <a:r>
              <a:rPr lang="en-GB" sz="2000" dirty="0">
                <a:solidFill>
                  <a:schemeClr val="bg1"/>
                </a:solidFill>
              </a:rPr>
              <a:t> button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8867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2212730" y="1727538"/>
            <a:ext cx="721262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Approved &amp; Rejected Claims</a:t>
            </a:r>
          </a:p>
          <a:p>
            <a:r>
              <a:rPr lang="en-GB" b="1" dirty="0">
                <a:solidFill>
                  <a:schemeClr val="bg1"/>
                </a:solidFill>
              </a:rPr>
              <a:t>Approved Claims Section</a:t>
            </a:r>
          </a:p>
          <a:p>
            <a:r>
              <a:rPr lang="en-GB" dirty="0">
                <a:solidFill>
                  <a:schemeClr val="bg1"/>
                </a:solidFill>
              </a:rPr>
              <a:t>Includes:</a:t>
            </a:r>
          </a:p>
          <a:p>
            <a:r>
              <a:rPr lang="en-GB" dirty="0">
                <a:solidFill>
                  <a:schemeClr val="bg1"/>
                </a:solidFill>
              </a:rPr>
              <a:t>Claim ID</a:t>
            </a:r>
          </a:p>
          <a:p>
            <a:r>
              <a:rPr lang="en-GB" dirty="0">
                <a:solidFill>
                  <a:schemeClr val="bg1"/>
                </a:solidFill>
              </a:rPr>
              <a:t>Lecturer Name</a:t>
            </a:r>
          </a:p>
          <a:p>
            <a:r>
              <a:rPr lang="en-GB" dirty="0">
                <a:solidFill>
                  <a:schemeClr val="bg1"/>
                </a:solidFill>
              </a:rPr>
              <a:t>Total Amount</a:t>
            </a:r>
          </a:p>
          <a:p>
            <a:r>
              <a:rPr lang="en-GB" dirty="0">
                <a:solidFill>
                  <a:schemeClr val="bg1"/>
                </a:solidFill>
              </a:rPr>
              <a:t>Status</a:t>
            </a:r>
          </a:p>
          <a:p>
            <a:r>
              <a:rPr lang="en-GB" b="1" dirty="0">
                <a:solidFill>
                  <a:schemeClr val="bg1"/>
                </a:solidFill>
              </a:rPr>
              <a:t>Rejected Claims Section</a:t>
            </a:r>
          </a:p>
          <a:p>
            <a:r>
              <a:rPr lang="en-GB" dirty="0">
                <a:solidFill>
                  <a:schemeClr val="bg1"/>
                </a:solidFill>
              </a:rPr>
              <a:t>Includes:</a:t>
            </a:r>
          </a:p>
          <a:p>
            <a:r>
              <a:rPr lang="en-GB" dirty="0">
                <a:solidFill>
                  <a:schemeClr val="bg1"/>
                </a:solidFill>
              </a:rPr>
              <a:t>Claim ID</a:t>
            </a:r>
          </a:p>
          <a:p>
            <a:r>
              <a:rPr lang="en-GB" dirty="0">
                <a:solidFill>
                  <a:schemeClr val="bg1"/>
                </a:solidFill>
              </a:rPr>
              <a:t>Lecturer Name</a:t>
            </a:r>
          </a:p>
          <a:p>
            <a:r>
              <a:rPr lang="en-GB" dirty="0">
                <a:solidFill>
                  <a:schemeClr val="bg1"/>
                </a:solidFill>
              </a:rPr>
              <a:t>Total Amount</a:t>
            </a:r>
          </a:p>
          <a:p>
            <a:r>
              <a:rPr lang="en-GB" dirty="0">
                <a:solidFill>
                  <a:schemeClr val="bg1"/>
                </a:solidFill>
              </a:rPr>
              <a:t>Status</a:t>
            </a:r>
          </a:p>
          <a:p>
            <a:r>
              <a:rPr lang="en-GB" dirty="0">
                <a:solidFill>
                  <a:schemeClr val="bg1"/>
                </a:solidFill>
              </a:rPr>
              <a:t>Both tables use simple summaries and no action buttons.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05922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4B2F33-0E15-407B-A33E-3FF1B2D85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33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A08B65-3C10-475F-B828-DA77FAF3F9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0677" y="149470"/>
            <a:ext cx="11895991" cy="652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8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Programme Manager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PROGRAMME COORDINATOR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90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1588476" y="2035269"/>
            <a:ext cx="72126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Academic Manager Dashboard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Purpose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The Academic Manager Dashboard provides the final stage of claim verification.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After the Programme Coordinator approves a claim, it reaches the Academic Manager for </a:t>
            </a:r>
            <a:r>
              <a:rPr lang="en-GB" sz="2400" b="1" dirty="0">
                <a:solidFill>
                  <a:schemeClr val="bg1"/>
                </a:solidFill>
              </a:rPr>
              <a:t>final approval or rejection</a:t>
            </a:r>
            <a:r>
              <a:rPr lang="en-GB" sz="2400" dirty="0">
                <a:solidFill>
                  <a:schemeClr val="bg1"/>
                </a:solidFill>
              </a:rPr>
              <a:t>.</a:t>
            </a:r>
          </a:p>
          <a:p>
            <a:r>
              <a:rPr lang="en-GB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2892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Key Features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 Pending Claims Table</a:t>
            </a:r>
          </a:p>
          <a:p>
            <a:r>
              <a:rPr lang="en-GB" sz="2400" dirty="0">
                <a:solidFill>
                  <a:schemeClr val="bg1"/>
                </a:solidFill>
              </a:rPr>
              <a:t>Displays claims </a:t>
            </a:r>
            <a:r>
              <a:rPr lang="en-GB" sz="2400" b="1" dirty="0">
                <a:solidFill>
                  <a:schemeClr val="bg1"/>
                </a:solidFill>
              </a:rPr>
              <a:t>approved by the Coordinator</a:t>
            </a:r>
            <a:r>
              <a:rPr lang="en-GB" sz="2400" dirty="0">
                <a:solidFill>
                  <a:schemeClr val="bg1"/>
                </a:solidFill>
              </a:rPr>
              <a:t> and now waiting for the Manager.</a:t>
            </a:r>
          </a:p>
          <a:p>
            <a:r>
              <a:rPr lang="en-GB" sz="2400" dirty="0">
                <a:solidFill>
                  <a:schemeClr val="bg1"/>
                </a:solidFill>
              </a:rPr>
              <a:t>Shows: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Lecturer name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Submission date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Total amount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Coordinator status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Action buttons (Final Approve / Reject)</a:t>
            </a:r>
          </a:p>
          <a:p>
            <a:r>
              <a:rPr lang="en-GB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0385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37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Approved Claims Table</a:t>
            </a:r>
          </a:p>
          <a:p>
            <a:r>
              <a:rPr lang="en-GB" sz="2400" dirty="0">
                <a:solidFill>
                  <a:schemeClr val="bg1"/>
                </a:solidFill>
              </a:rPr>
              <a:t>Shows all claims that have been </a:t>
            </a:r>
            <a:r>
              <a:rPr lang="en-GB" sz="2400" b="1" dirty="0">
                <a:solidFill>
                  <a:schemeClr val="bg1"/>
                </a:solidFill>
              </a:rPr>
              <a:t>Final Approved</a:t>
            </a:r>
            <a:r>
              <a:rPr lang="en-GB" sz="2400" dirty="0">
                <a:solidFill>
                  <a:schemeClr val="bg1"/>
                </a:solidFill>
              </a:rPr>
              <a:t> by the Manager.</a:t>
            </a:r>
          </a:p>
          <a:p>
            <a:r>
              <a:rPr lang="en-GB" sz="2400" dirty="0">
                <a:solidFill>
                  <a:schemeClr val="bg1"/>
                </a:solidFill>
              </a:rPr>
              <a:t>Displays: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Lecturer name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Submission date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Total amount</a:t>
            </a: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Final status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This ensures the Manager has clear oversight of both pending and completed tasks.</a:t>
            </a:r>
          </a:p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4692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C0EB7C-4F9F-41DC-A8A7-CF66EA8A4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38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54526-62A5-40F2-B018-B6629724CA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7923" y="87922"/>
            <a:ext cx="11992708" cy="666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02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Hr Portal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HR PORTAL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51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40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1386252" y="1569277"/>
            <a:ext cx="72126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HR Portal – Finalised Claims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Purpose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The HR portal manages all </a:t>
            </a:r>
            <a:r>
              <a:rPr lang="en-GB" sz="2400" b="1" dirty="0">
                <a:solidFill>
                  <a:schemeClr val="bg1"/>
                </a:solidFill>
              </a:rPr>
              <a:t>final approved claims</a:t>
            </a:r>
            <a:r>
              <a:rPr lang="en-GB" sz="2400" dirty="0">
                <a:solidFill>
                  <a:schemeClr val="bg1"/>
                </a:solidFill>
              </a:rPr>
              <a:t>, allowing HR to prepare payments, generate reports, and manage lecturer details.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Dashboard Summary Cards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Total Final Claims</a:t>
            </a: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b="1" dirty="0">
                <a:solidFill>
                  <a:schemeClr val="bg1"/>
                </a:solidFill>
              </a:rPr>
              <a:t>Total Approved Amount (R)</a:t>
            </a: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b="1" dirty="0">
                <a:solidFill>
                  <a:schemeClr val="bg1"/>
                </a:solidFill>
              </a:rPr>
              <a:t>Total Unique Lecturers</a:t>
            </a: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b="1" dirty="0">
                <a:solidFill>
                  <a:schemeClr val="bg1"/>
                </a:solidFill>
              </a:rPr>
              <a:t>Pending Payments</a:t>
            </a:r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These metrics give HR instant insight into payment workload and financial values.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1654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41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Main HR Features</a:t>
            </a:r>
          </a:p>
          <a:p>
            <a:r>
              <a:rPr lang="en-GB" sz="2000" b="1" dirty="0">
                <a:solidFill>
                  <a:schemeClr val="bg1"/>
                </a:solidFill>
              </a:rPr>
              <a:t>Filters</a:t>
            </a:r>
          </a:p>
          <a:p>
            <a:r>
              <a:rPr lang="en-GB" sz="2000" dirty="0">
                <a:solidFill>
                  <a:schemeClr val="bg1"/>
                </a:solidFill>
              </a:rPr>
              <a:t>HR can filter claims by:</a:t>
            </a:r>
          </a:p>
          <a:p>
            <a:r>
              <a:rPr lang="en-GB" sz="2000" dirty="0">
                <a:solidFill>
                  <a:schemeClr val="bg1"/>
                </a:solidFill>
              </a:rPr>
              <a:t>Lecturer name</a:t>
            </a:r>
          </a:p>
          <a:p>
            <a:r>
              <a:rPr lang="en-GB" sz="2000" dirty="0">
                <a:solidFill>
                  <a:schemeClr val="bg1"/>
                </a:solidFill>
              </a:rPr>
              <a:t>Month</a:t>
            </a:r>
          </a:p>
          <a:p>
            <a:r>
              <a:rPr lang="en-GB" sz="2000" b="1" dirty="0">
                <a:solidFill>
                  <a:schemeClr val="bg1"/>
                </a:solidFill>
              </a:rPr>
              <a:t> Export Options</a:t>
            </a:r>
          </a:p>
          <a:p>
            <a:r>
              <a:rPr lang="en-GB" sz="2000" dirty="0">
                <a:solidFill>
                  <a:schemeClr val="bg1"/>
                </a:solidFill>
              </a:rPr>
              <a:t>Download </a:t>
            </a:r>
            <a:r>
              <a:rPr lang="en-GB" sz="2000" b="1" dirty="0">
                <a:solidFill>
                  <a:schemeClr val="bg1"/>
                </a:solidFill>
              </a:rPr>
              <a:t>CSV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Download </a:t>
            </a:r>
            <a:r>
              <a:rPr lang="en-GB" sz="2000" b="1" dirty="0">
                <a:solidFill>
                  <a:schemeClr val="bg1"/>
                </a:solidFill>
              </a:rPr>
              <a:t>PDF</a:t>
            </a:r>
            <a:br>
              <a:rPr lang="en-GB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Provides clean reporting for finance and auditing.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85322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42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Finalised Claims Table</a:t>
            </a:r>
          </a:p>
          <a:p>
            <a:r>
              <a:rPr lang="en-GB" sz="2400" dirty="0">
                <a:solidFill>
                  <a:schemeClr val="bg1"/>
                </a:solidFill>
              </a:rPr>
              <a:t>Displays:</a:t>
            </a:r>
          </a:p>
          <a:p>
            <a:r>
              <a:rPr lang="en-GB" sz="2400" dirty="0">
                <a:solidFill>
                  <a:schemeClr val="bg1"/>
                </a:solidFill>
              </a:rPr>
              <a:t>Claim ID</a:t>
            </a:r>
          </a:p>
          <a:p>
            <a:r>
              <a:rPr lang="en-GB" sz="2400" dirty="0">
                <a:solidFill>
                  <a:schemeClr val="bg1"/>
                </a:solidFill>
              </a:rPr>
              <a:t>Lecturer</a:t>
            </a:r>
          </a:p>
          <a:p>
            <a:r>
              <a:rPr lang="en-GB" sz="2400" dirty="0">
                <a:solidFill>
                  <a:schemeClr val="bg1"/>
                </a:solidFill>
              </a:rPr>
              <a:t>Course + Module</a:t>
            </a:r>
          </a:p>
          <a:p>
            <a:r>
              <a:rPr lang="en-GB" sz="2400" dirty="0">
                <a:solidFill>
                  <a:schemeClr val="bg1"/>
                </a:solidFill>
              </a:rPr>
              <a:t>Hours worked</a:t>
            </a:r>
          </a:p>
          <a:p>
            <a:r>
              <a:rPr lang="en-GB" sz="2400" dirty="0">
                <a:solidFill>
                  <a:schemeClr val="bg1"/>
                </a:solidFill>
              </a:rPr>
              <a:t>Hourly rate</a:t>
            </a:r>
          </a:p>
          <a:p>
            <a:r>
              <a:rPr lang="en-GB" sz="2400" dirty="0">
                <a:solidFill>
                  <a:schemeClr val="bg1"/>
                </a:solidFill>
              </a:rPr>
              <a:t>Total amount</a:t>
            </a:r>
          </a:p>
          <a:p>
            <a:r>
              <a:rPr lang="en-GB" sz="2400" dirty="0">
                <a:solidFill>
                  <a:schemeClr val="bg1"/>
                </a:solidFill>
              </a:rPr>
              <a:t>Support document</a:t>
            </a:r>
          </a:p>
          <a:p>
            <a:r>
              <a:rPr lang="en-GB" sz="2400" dirty="0">
                <a:solidFill>
                  <a:schemeClr val="bg1"/>
                </a:solidFill>
              </a:rPr>
              <a:t>Submission date</a:t>
            </a:r>
          </a:p>
          <a:p>
            <a:r>
              <a:rPr lang="en-GB" sz="2400" dirty="0">
                <a:solidFill>
                  <a:schemeClr val="bg1"/>
                </a:solidFill>
              </a:rPr>
              <a:t>Status</a:t>
            </a:r>
          </a:p>
          <a:p>
            <a:r>
              <a:rPr lang="en-GB" sz="2400" dirty="0">
                <a:solidFill>
                  <a:schemeClr val="bg1"/>
                </a:solidFill>
              </a:rPr>
              <a:t>HR actions</a:t>
            </a:r>
          </a:p>
          <a:p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6301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43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1896207" y="1560485"/>
            <a:ext cx="721262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HR Actions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Edit Lecturer Information</a:t>
            </a:r>
            <a:endParaRPr lang="en-GB" sz="2400" dirty="0">
              <a:solidFill>
                <a:schemeClr val="bg1"/>
              </a:solidFill>
            </a:endParaRP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Update name, email, phone number, and bank details.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Mark Claim as Paid</a:t>
            </a:r>
            <a:endParaRPr lang="en-GB" sz="2400" dirty="0">
              <a:solidFill>
                <a:schemeClr val="bg1"/>
              </a:solidFill>
            </a:endParaRPr>
          </a:p>
          <a:p>
            <a:pPr lvl="1"/>
            <a:r>
              <a:rPr lang="en-GB" sz="2400" dirty="0">
                <a:solidFill>
                  <a:schemeClr val="bg1"/>
                </a:solidFill>
              </a:rPr>
              <a:t>Records that payment has been processed.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This ensures lecturer records remain accurate and payments are properly tracked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527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F065E-235A-49F1-8FE2-0BC8D31D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44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A09E3F-6AE4-47D3-8DC1-E2DD7BBC5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18"/>
            <a:ext cx="12192000" cy="678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594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981200"/>
            <a:ext cx="11456894" cy="2764055"/>
          </a:xfrm>
        </p:spPr>
        <p:txBody>
          <a:bodyPr/>
          <a:lstStyle/>
          <a:p>
            <a:r>
              <a:rPr lang="en-ZA" dirty="0"/>
              <a:t>More info Page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INFO INFORMATION AND SCREENSHOT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90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46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2054468" y="1509554"/>
            <a:ext cx="721262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Integrity</a:t>
            </a:r>
          </a:p>
          <a:p>
            <a:r>
              <a:rPr lang="en-GB" sz="2400" dirty="0">
                <a:solidFill>
                  <a:schemeClr val="bg1"/>
                </a:solidFill>
              </a:rPr>
              <a:t>CMCS is built on transparency, fairness, and accuracy.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Every claim goes through a careful verification process to ensure lecturers are compensated correctly.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Policy Compliance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The system follows institutional rules, using a multi-level approval workflow:</a:t>
            </a:r>
          </a:p>
          <a:p>
            <a:r>
              <a:rPr lang="en-GB" sz="2400" dirty="0">
                <a:solidFill>
                  <a:schemeClr val="bg1"/>
                </a:solidFill>
              </a:rPr>
              <a:t>Lecturer →</a:t>
            </a:r>
          </a:p>
          <a:p>
            <a:r>
              <a:rPr lang="en-GB" sz="2400" dirty="0">
                <a:solidFill>
                  <a:schemeClr val="bg1"/>
                </a:solidFill>
              </a:rPr>
              <a:t>Coordinator →</a:t>
            </a:r>
          </a:p>
          <a:p>
            <a:r>
              <a:rPr lang="en-GB" sz="2400" dirty="0">
                <a:solidFill>
                  <a:schemeClr val="bg1"/>
                </a:solidFill>
              </a:rPr>
              <a:t>Academic Manager →</a:t>
            </a:r>
          </a:p>
          <a:p>
            <a:r>
              <a:rPr lang="en-GB" sz="2400" dirty="0">
                <a:solidFill>
                  <a:schemeClr val="bg1"/>
                </a:solidFill>
              </a:rPr>
              <a:t>HR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4579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47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This protects both the institution and the lecturer.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Trust &amp; Security</a:t>
            </a:r>
          </a:p>
          <a:p>
            <a:r>
              <a:rPr lang="en-GB" sz="2400" dirty="0">
                <a:solidFill>
                  <a:schemeClr val="bg1"/>
                </a:solidFill>
              </a:rPr>
              <a:t>Secure document handling</a:t>
            </a:r>
          </a:p>
          <a:p>
            <a:r>
              <a:rPr lang="en-GB" sz="2400" dirty="0">
                <a:solidFill>
                  <a:schemeClr val="bg1"/>
                </a:solidFill>
              </a:rPr>
              <a:t>Role-based access</a:t>
            </a:r>
          </a:p>
          <a:p>
            <a:r>
              <a:rPr lang="en-GB" sz="2400" dirty="0">
                <a:solidFill>
                  <a:schemeClr val="bg1"/>
                </a:solidFill>
              </a:rPr>
              <a:t>Clear, traceable workflows</a:t>
            </a:r>
          </a:p>
          <a:p>
            <a:r>
              <a:rPr lang="en-GB" sz="2400" dirty="0">
                <a:solidFill>
                  <a:schemeClr val="bg1"/>
                </a:solidFill>
              </a:rPr>
              <a:t>CMCS ensures a reliable environment for all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1242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48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1746737" y="1622030"/>
            <a:ext cx="721262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What We Do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📁 Upload Claims</a:t>
            </a:r>
          </a:p>
          <a:p>
            <a:r>
              <a:rPr lang="en-GB" sz="2400" dirty="0">
                <a:solidFill>
                  <a:schemeClr val="bg1"/>
                </a:solidFill>
              </a:rPr>
              <a:t>Lecturers upload monthly claims and supporting documents easily.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The system stores them securely and prepares them for review.</a:t>
            </a:r>
          </a:p>
          <a:p>
            <a:r>
              <a:rPr lang="en-GB" sz="2400" b="1" dirty="0">
                <a:solidFill>
                  <a:schemeClr val="bg1"/>
                </a:solidFill>
              </a:rPr>
              <a:t>📝 Approval Workflow</a:t>
            </a:r>
          </a:p>
          <a:p>
            <a:r>
              <a:rPr lang="en-GB" sz="2400" dirty="0">
                <a:solidFill>
                  <a:schemeClr val="bg1"/>
                </a:solidFill>
              </a:rPr>
              <a:t>Coordinators and Managers verify and approve claims:</a:t>
            </a:r>
          </a:p>
          <a:p>
            <a:r>
              <a:rPr lang="en-GB" sz="2400" dirty="0">
                <a:solidFill>
                  <a:schemeClr val="bg1"/>
                </a:solidFill>
              </a:rPr>
              <a:t>Check completeness</a:t>
            </a:r>
          </a:p>
          <a:p>
            <a:r>
              <a:rPr lang="en-GB" sz="2400" dirty="0">
                <a:solidFill>
                  <a:schemeClr val="bg1"/>
                </a:solidFill>
              </a:rPr>
              <a:t>Validate accuracy</a:t>
            </a:r>
          </a:p>
          <a:p>
            <a:r>
              <a:rPr lang="en-GB" sz="2400" dirty="0">
                <a:solidFill>
                  <a:schemeClr val="bg1"/>
                </a:solidFill>
              </a:rPr>
              <a:t>Approve or reject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5931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Status Tracking</a:t>
            </a:r>
          </a:p>
          <a:p>
            <a:r>
              <a:rPr lang="en-GB" sz="2400" dirty="0">
                <a:solidFill>
                  <a:schemeClr val="bg1"/>
                </a:solidFill>
              </a:rPr>
              <a:t>Lecturers and administrators can track real-time status updates:</a:t>
            </a:r>
          </a:p>
          <a:p>
            <a:r>
              <a:rPr lang="en-GB" sz="2400" dirty="0">
                <a:solidFill>
                  <a:schemeClr val="bg1"/>
                </a:solidFill>
              </a:rPr>
              <a:t>Submitted</a:t>
            </a:r>
          </a:p>
          <a:p>
            <a:r>
              <a:rPr lang="en-GB" sz="2400" dirty="0">
                <a:solidFill>
                  <a:schemeClr val="bg1"/>
                </a:solidFill>
              </a:rPr>
              <a:t>Under Review</a:t>
            </a:r>
          </a:p>
          <a:p>
            <a:r>
              <a:rPr lang="en-GB" sz="2400" dirty="0">
                <a:solidFill>
                  <a:schemeClr val="bg1"/>
                </a:solidFill>
              </a:rPr>
              <a:t>Approved / Rejected</a:t>
            </a:r>
          </a:p>
          <a:p>
            <a:r>
              <a:rPr lang="en-GB" sz="2400" dirty="0">
                <a:solidFill>
                  <a:schemeClr val="bg1"/>
                </a:solidFill>
              </a:rPr>
              <a:t>Final Approved</a:t>
            </a:r>
          </a:p>
          <a:p>
            <a:r>
              <a:rPr lang="en-GB" sz="2400" dirty="0">
                <a:solidFill>
                  <a:schemeClr val="bg1"/>
                </a:solidFill>
              </a:rPr>
              <a:t>Paid</a:t>
            </a:r>
          </a:p>
          <a:p>
            <a:r>
              <a:rPr lang="en-GB" sz="2400" dirty="0">
                <a:solidFill>
                  <a:schemeClr val="bg1"/>
                </a:solidFill>
              </a:rPr>
              <a:t>This transparency reduces confusion and improves communication.</a:t>
            </a:r>
          </a:p>
          <a:p>
            <a:pPr lvl="3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3265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93D3AF-0B92-4BB4-A2A3-8077EB5B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50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A3FEA-92E0-4D7B-A159-285E0374F6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5508" y="0"/>
            <a:ext cx="12086492" cy="66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62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16FCCD-CB23-46E9-AA88-D69754BD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51</a:t>
            </a:fld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7E2AA5-7A44-48DE-981D-1735CB36CA41}"/>
              </a:ext>
            </a:extLst>
          </p:cNvPr>
          <p:cNvSpPr/>
          <p:nvPr/>
        </p:nvSpPr>
        <p:spPr>
          <a:xfrm>
            <a:off x="3047999" y="2413338"/>
            <a:ext cx="7212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E1CA9-4C50-447F-83DB-39F8F97BDC62}"/>
              </a:ext>
            </a:extLst>
          </p:cNvPr>
          <p:cNvSpPr/>
          <p:nvPr/>
        </p:nvSpPr>
        <p:spPr>
          <a:xfrm>
            <a:off x="929053" y="751344"/>
            <a:ext cx="834683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Conclusion</a:t>
            </a:r>
          </a:p>
          <a:p>
            <a:r>
              <a:rPr lang="en-GB" dirty="0">
                <a:solidFill>
                  <a:schemeClr val="bg1"/>
                </a:solidFill>
              </a:rPr>
              <a:t>The CMCS Claim Management System simplifies the entire claims lifecycle, from submission to final payment.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Through clear interfaces, role-based workflows, and secure data handling, the system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Efficiency</a:t>
            </a:r>
            <a:r>
              <a:rPr lang="en-GB" dirty="0">
                <a:solidFill>
                  <a:schemeClr val="bg1"/>
                </a:solidFill>
              </a:rPr>
              <a:t> – Reducing manual paperwork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Accuracy</a:t>
            </a:r>
            <a:r>
              <a:rPr lang="en-GB" dirty="0">
                <a:solidFill>
                  <a:schemeClr val="bg1"/>
                </a:solidFill>
              </a:rPr>
              <a:t> – Minimizing errors in claim calculations &amp; approvals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Transparency</a:t>
            </a:r>
            <a:r>
              <a:rPr lang="en-GB" dirty="0">
                <a:solidFill>
                  <a:schemeClr val="bg1"/>
                </a:solidFill>
              </a:rPr>
              <a:t> – Real-time tracking for all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Accountability</a:t>
            </a:r>
            <a:r>
              <a:rPr lang="en-GB" dirty="0">
                <a:solidFill>
                  <a:schemeClr val="bg1"/>
                </a:solidFill>
              </a:rPr>
              <a:t> – Multi-level verification ensures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Professionalism</a:t>
            </a:r>
            <a:r>
              <a:rPr lang="en-GB" dirty="0">
                <a:solidFill>
                  <a:schemeClr val="bg1"/>
                </a:solidFill>
              </a:rPr>
              <a:t> – Reliable, secure, and user-friendly platform</a:t>
            </a:r>
          </a:p>
          <a:p>
            <a:r>
              <a:rPr lang="en-GB" dirty="0">
                <a:solidFill>
                  <a:schemeClr val="bg1"/>
                </a:solidFill>
              </a:rPr>
              <a:t>Overall, CMCS improves productivity, enhances trust, and ensures lecturers are compensated fairly and on time.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It is a complete digital solution for modern claim management.</a:t>
            </a:r>
          </a:p>
        </p:txBody>
      </p:sp>
    </p:spTree>
    <p:extLst>
      <p:ext uri="{BB962C8B-B14F-4D97-AF65-F5344CB8AC3E}">
        <p14:creationId xmlns:p14="http://schemas.microsoft.com/office/powerpoint/2010/main" val="3298861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16c05727-aa75-4e4a-9b5f-8a80a1165891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1564</Words>
  <Application>Microsoft Office PowerPoint</Application>
  <PresentationFormat>Widescreen</PresentationFormat>
  <Paragraphs>365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Arial Unicode MS</vt:lpstr>
      <vt:lpstr>Calibri</vt:lpstr>
      <vt:lpstr>Tahoma</vt:lpstr>
      <vt:lpstr>Trade Gothic LT Pro</vt:lpstr>
      <vt:lpstr>Trebuchet MS</vt:lpstr>
      <vt:lpstr>Office Theme</vt:lpstr>
      <vt:lpstr>Contract Monthly Claim System (CMCS)</vt:lpstr>
      <vt:lpstr>ST10442454 – Ndivhuwo Wandile  Ranwedzi  </vt:lpstr>
      <vt:lpstr>Homepage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Sign Up Page </vt:lpstr>
      <vt:lpstr>Sign up</vt:lpstr>
      <vt:lpstr>PowerPoint Presentation</vt:lpstr>
      <vt:lpstr>PowerPoint Presentation</vt:lpstr>
      <vt:lpstr>Login Page </vt:lpstr>
      <vt:lpstr>Login </vt:lpstr>
      <vt:lpstr>Login Page (Value)</vt:lpstr>
      <vt:lpstr>PowerPoint Presentation</vt:lpstr>
      <vt:lpstr>PowerPoint Presentation</vt:lpstr>
      <vt:lpstr>PowerPoint Presentation</vt:lpstr>
      <vt:lpstr>PowerPoint Presentation</vt:lpstr>
      <vt:lpstr>Lecturer Page </vt:lpstr>
      <vt:lpstr>Lecturer Dashboard Overview Purpose of This View Welcomes the logged-in lecturer Allows submission of monthly claims Provides access to track claim progress Displays recent claim activity notice Key Features Displays lecturer name using @Model.Name Offers two main actions: Submit Claim Track Claim Uses TempData.Keep("LecturerName") to retain user context </vt:lpstr>
      <vt:lpstr>Lecturer Dashboard UI Elements Interface Elements Welcome message dynamically bound to the model Submit Claim button Uses &lt;form asp-action="SubmitClaim"&gt; Sends GET request to HomeController Track Claim button Includes hidden field lecturerFullName Redirects to claim tracking page Visual Styling Light-colored UI (beige theme) Centered container with padding and spacing Clean, simple navigation for lecturers </vt:lpstr>
      <vt:lpstr>PowerPoint Presentation</vt:lpstr>
      <vt:lpstr>PowerPoint Presentation</vt:lpstr>
      <vt:lpstr>Coordinator Page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Programme Manager Page </vt:lpstr>
      <vt:lpstr>PowerPoint Presentation</vt:lpstr>
      <vt:lpstr>PowerPoint Presentation</vt:lpstr>
      <vt:lpstr>PowerPoint Presentation</vt:lpstr>
      <vt:lpstr>PowerPoint Presentation</vt:lpstr>
      <vt:lpstr>Hr Portal Page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info Page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2025-11-21T09:19:26Z</dcterms:created>
  <dcterms:modified xsi:type="dcterms:W3CDTF">2025-11-21T19:15:19Z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